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182880"/>
            <a:ext cx="4114800" cy="4114800"/>
          </a:xfrm>
          <a:prstGeom prst="ellipse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3474720"/>
            <a:ext cx="2011680" cy="201168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2743200" cy="2743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每日拾光学习簿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E96B46"/>
                </a:solidFill>
                <a:latin typeface="Microsoft YaHei"/>
              </a:defRPr>
            </a:pPr>
            <a:r>
              <a:t>Daily Learning Assistant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AA"/>
                </a:solidFill>
                <a:latin typeface="Microsoft YaHei"/>
              </a:defRPr>
            </a:pPr>
            <a:r>
              <a:t>从 Git 提交到知识日报的全本地化 Agent 流水线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600" b="0">
                <a:solidFill>
                  <a:srgbClr val="666677"/>
                </a:solidFill>
                <a:latin typeface="Microsoft YaHei"/>
              </a:defRPr>
            </a:pPr>
            <a:r>
              <a:t>5 个独立 Agent · Orchestrator 调度 · 拆分定时任务 · 多层回退 · LLM 追踪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77"/>
                </a:solidFill>
                <a:latin typeface="Microsoft YaHei"/>
              </a:defRPr>
            </a:pPr>
            <a:r>
              <a:t>haoyanzhen  |  2026-05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5669280"/>
            <a:ext cx="1828800" cy="502920"/>
          </a:xfrm>
          <a:prstGeom prst="round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5715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Microsoft YaHei"/>
              </a:defRPr>
            </a:pPr>
            <a:r>
              <a:t>一套本地运行、GitHub Pages 展示的全自动学习资产流水线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6B46"/>
                </a:solidFill>
                <a:latin typeface="Microsoft YaHei"/>
              </a:defRPr>
            </a:pPr>
            <a:r>
              <a:t>它是什么？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423160"/>
            <a:ext cx="1097280" cy="27432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5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每日自动扫描 ~/projects 下 7 个 Git 仓库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提炼数学、物理、计算机、软件工程、LLM 概念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生成生动完整的中文知识讲解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发布可直接阅读的 HTML 学习日报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通过 SMTP 发送日报邮件通知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最终形成持续积累、可检索、可回溯的个人知识库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920240"/>
            <a:ext cx="5029200" cy="438912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C8"/>
                </a:solidFill>
                <a:latin typeface="Microsoft YaHei"/>
              </a:defRPr>
            </a:pPr>
            <a:r>
              <a:t>v2.0 核心升级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2423160"/>
            <a:ext cx="1097280" cy="2743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6060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本地独立 Agent — 不再依赖 Codex 平台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Orchestrator 调度引擎 — 统一生命周期管理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新增邮件 Agent — 日报自动推送到邮箱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拆分调度 — HTML 生成与邮件发送独立定时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多层回退 — 无变更复用 / 失败提醒 / 幂等保护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状态追踪 — run_status + LLM trace 全链路可观测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安全发布 — 远端检查 + 选择性暂存 + 防覆盖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89920" cy="36576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架构演进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Microsoft YaHei"/>
              </a:defRPr>
            </a:pPr>
            <a:r>
              <a:t>从 Codex 平台依赖 → 完全本地独立的 Agent 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914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77"/>
                </a:solidFill>
                <a:latin typeface="Microsoft YaHei"/>
              </a:defRPr>
            </a:pPr>
            <a:r>
              <a:t>v1.x — Codex 时代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依赖 Codex 平台触发 · 4 个 Agent · 无 Orchestrator · 无拆分调度 · 无回退机制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E96B46"/>
                </a:solidFill>
                <a:latin typeface="Microsoft YaHei"/>
              </a:defRPr>
            </a:pPr>
            <a:r>
              <a:t>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29200" cy="14630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6B46"/>
                </a:solidFill>
                <a:latin typeface="Microsoft YaHei"/>
              </a:defRPr>
            </a:pPr>
            <a:r>
              <a:t>v2.0 — 本地独立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 个独立 Agent + Orchestrator 调度引擎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launchd 本地定时 · CLI 完全可控 · 拆分调度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多层回退 · 状态追踪 · LLM 调用链 · 安全发布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2606040" cy="14630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96B46"/>
                </a:solidFill>
                <a:latin typeface="Microsoft YaHei"/>
              </a:defRPr>
            </a:pPr>
            <a:r>
              <a:t>orchestrator/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调度引擎、状态管理、</a:t>
            </a:r>
            <a:br/>
            <a:r>
              <a:t>生命周期、LLM 重试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3291840"/>
            <a:ext cx="2606040" cy="14630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3383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A86C8"/>
                </a:solidFill>
                <a:latin typeface="Microsoft YaHei"/>
              </a:defRPr>
            </a:pPr>
            <a:r>
              <a:t>agents/ ×5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749039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5 个独立 Agent</a:t>
            </a:r>
            <a:br/>
            <a:r>
              <a:t>各司其职、CLI 契约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291840"/>
            <a:ext cx="2606040" cy="14630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383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7AE60"/>
                </a:solidFill>
                <a:latin typeface="Microsoft YaHei"/>
              </a:defRPr>
            </a:pPr>
            <a:r>
              <a:t>scripts/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749039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日报生成、邮件发送、</a:t>
            </a:r>
            <a:br/>
            <a:r>
              <a:t>配置检查、launchd 安装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291840"/>
            <a:ext cx="2606040" cy="14630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383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8E44AD"/>
                </a:solidFill>
                <a:latin typeface="Microsoft YaHei"/>
              </a:defRPr>
            </a:pPr>
            <a:r>
              <a:t>design/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749039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架构文档、回退设计、</a:t>
            </a:r>
            <a:br/>
            <a:r>
              <a:t>状态设计、任务追踪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监控范围：7 个 Git 仓库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Microsoft YaHei"/>
              </a:defRPr>
            </a:pPr>
            <a:r>
              <a:t>AInote  ·  DailyLearningAssistant  ·  interview_prepare  ·  mcp  ·  ResearchPaperBase_cc  ·  ResearchPaperBase_codex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989320"/>
            <a:ext cx="10515600" cy="50292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0533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核心理念：Agent 负责生成 · Orchestrator 负责调度 · 中间产物可检查可复盘 · 每一步可独立补跑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五大 Agent 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Microsoft YaHei"/>
              </a:defRPr>
            </a:pPr>
            <a:r>
              <a:t>每个 Agent 独立运行、CLI 契约调度、中间产物 Markdown 传递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103120" cy="2377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920240"/>
            <a:ext cx="548640" cy="548640"/>
          </a:xfrm>
          <a:prstGeom prst="ellipse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96B46"/>
                </a:solidFill>
                <a:latin typeface="Microsoft YaHei"/>
              </a:defRPr>
            </a:pPr>
            <a:r>
              <a:t>代码变更</a:t>
            </a:r>
            <a:br/>
            <a:r>
              <a:t>观察员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Microsoft YaHei"/>
              </a:defRPr>
            </a:pPr>
            <a:r>
              <a:t>work_summary</a:t>
            </a:r>
            <a:br/>
            <a:r>
              <a:t>_*.md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6060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2103120" cy="2377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1920240"/>
            <a:ext cx="548640" cy="54864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A86C8"/>
                </a:solidFill>
                <a:latin typeface="Microsoft YaHei"/>
              </a:defRPr>
            </a:pPr>
            <a:r>
              <a:t>科普</a:t>
            </a:r>
            <a:br/>
            <a:r>
              <a:t>老师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Microsoft YaHei"/>
              </a:defRPr>
            </a:pPr>
            <a:r>
              <a:t>concept_relevance</a:t>
            </a:r>
            <a:br/>
            <a:r>
              <a:t>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060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828800"/>
            <a:ext cx="2103120" cy="2377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97879" y="192024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79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知识讲解</a:t>
            </a:r>
            <a:br/>
            <a:r>
              <a:t>老师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Microsoft YaHei"/>
              </a:defRPr>
            </a:pPr>
            <a:r>
              <a:t>knowledge_explaination</a:t>
            </a:r>
            <a:br/>
            <a:r>
              <a:t>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6060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59" y="1828800"/>
            <a:ext cx="2103120" cy="2377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9" y="1920240"/>
            <a:ext cx="548640" cy="5486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E44AD"/>
                </a:solidFill>
                <a:latin typeface="Microsoft YaHei"/>
              </a:defRPr>
            </a:pPr>
            <a:r>
              <a:t>日报编辑</a:t>
            </a:r>
            <a:br/>
            <a:r>
              <a:t>与发布员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Microsoft YaHei"/>
              </a:defRPr>
            </a:pPr>
            <a:r>
              <a:t>learning-report</a:t>
            </a:r>
            <a:br/>
            <a:r>
              <a:t>.html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6060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828800"/>
            <a:ext cx="2103120" cy="2377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61319" y="1920240"/>
            <a:ext cx="548640" cy="5486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19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BC9C"/>
                </a:solidFill>
                <a:latin typeface="Microsoft YaHei"/>
              </a:defRPr>
            </a:pPr>
            <a:r>
              <a:t>邮件</a:t>
            </a:r>
            <a:br/>
            <a:r>
              <a:t>发送员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Microsoft YaHei"/>
              </a:defRPr>
            </a:pPr>
            <a:r>
              <a:t>email_preview</a:t>
            </a:r>
            <a:br/>
            <a:r>
              <a:t>.html / .txt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26280"/>
            <a:ext cx="2103120" cy="196596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6B46"/>
                </a:solidFill>
                <a:latin typeface="Microsoft YaHei"/>
              </a:defRPr>
            </a:pPr>
            <a:r>
              <a:t>Agent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0292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扫描 7 个仓库 Git 提交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生成每日变更总结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4526280"/>
            <a:ext cx="2103120" cy="196596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86C8"/>
                </a:solidFill>
                <a:latin typeface="Microsoft YaHei"/>
              </a:defRPr>
            </a:pPr>
            <a:r>
              <a:t>Agent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79" y="50292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提炼 5 领域概念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梳理关联图谱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0" y="4526280"/>
            <a:ext cx="2103120" cy="196596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8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Agent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50292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选择 3 个概念深入讲解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维护月度知识日志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59" y="4526280"/>
            <a:ext cx="2103120" cy="196596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19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Microsoft YaHei"/>
              </a:defRPr>
            </a:pPr>
            <a:r>
              <a:t>Agent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50292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生成 HTML 日报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更新 manifest + Git Push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84080" y="4526280"/>
            <a:ext cx="2103120" cy="196596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BC9C"/>
                </a:solidFill>
                <a:latin typeface="Microsoft YaHei"/>
              </a:defRPr>
            </a:pPr>
            <a:r>
              <a:t>Agent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50292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生成邮件内容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SMTP 发送日报通知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77"/>
                </a:solidFill>
                <a:latin typeface="Microsoft YaHei"/>
              </a:defRPr>
            </a:pPr>
            <a:r>
              <a:t>Orchestrator 通过 CLI 参数调度每个 Agent，不直接调用内部函数 → Agent 可独立演进，边界清晰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Agent 详解 (一) — 内容生成阶段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56616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6B46"/>
                </a:solidFill>
                <a:latin typeface="Microsoft YaHei"/>
              </a:defRPr>
            </a:pPr>
            <a:r>
              <a:t>① 代码变更观察员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40280"/>
            <a:ext cx="1097280" cy="27432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读取 ~/projects 下 7 个仓库 git log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分析每次提交的文件变更与 diff 统计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整理提交概览、关键文件、工作主题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标注可能涉及的知识点线索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无提交也生成文件并记录原因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产物: work_summary_[repo].md ×7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56616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745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C8"/>
                </a:solidFill>
                <a:latin typeface="Microsoft YaHei"/>
              </a:defRPr>
            </a:pPr>
            <a:r>
              <a:t>② 科普老师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240280"/>
            <a:ext cx="1097280" cy="2743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4231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读取当日所有 work_summary_*.md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提炼 5 领域概念：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数学 / 物理 / 计算机科学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软件工程 / 大语言模型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标注来源仓库 + 概念关联图谱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给出后续知识讲解建议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产物: concept_relevance.md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56616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8745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③ 知识讲解老师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240280"/>
            <a:ext cx="109728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4231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读取 concept_relevance.md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按学习价值独立选择 3 个概念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不被工作相关性限制选择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每个概念包含：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  概念名称 · 领域 · 难度 (★)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  生动完整的原理讲解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  具体例子 · 常见误区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  概念关联 · 开放性问题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产物: knowledge_explaination.md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     + knowledge_log 月度记录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Agent 详解 (二) — 发布与分发阶段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30352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44AD"/>
                </a:solidFill>
                <a:latin typeface="Microsoft YaHei"/>
              </a:defRPr>
            </a:pPr>
            <a:r>
              <a:t>④ 日报编辑与发布员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371600" cy="274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读取 knowledge_explaination.md 和知识日志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生成独立 HTML 学习日报页面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简读 / 精读双模式切换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三卡片 + 全宽文章区布局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响应式：桌面并排 / 移动单列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复用公共样式 style/main.css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4846320" cy="17373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发布流程 (Orchestrator 接管)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确认 Git 工作区 + 分支匹配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拉取远端 → 本地落后则停止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选择性暂存 publish.paths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有变更提交 / 无变更跳过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本地领先则 push 到远端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0352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BC9C"/>
                </a:solidFill>
                <a:latin typeface="Microsoft YaHei"/>
              </a:defRPr>
            </a:pPr>
            <a:r>
              <a:t>⑤ 邮件发送员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286000"/>
            <a:ext cx="1371600" cy="274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读取日报 manifest 和 HTML 文件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LLM 生成 HTML + 纯文本邮件文案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LLM 失败自动降级为静态文案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默认生成预览，不发送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显式 --send-email 才通过 SMTP 发送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支持多收件人 + 静默列表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拆分调度模式：独立定时任务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20640"/>
            <a:ext cx="4846320" cy="10058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失败回退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440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日报生成失败 → 自动发送失败提醒邮件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附上上一份可用日报链接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Orchestrator 调度引擎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Microsoft YaHei"/>
              </a:defRPr>
            </a:pPr>
            <a:r>
              <a:t>流水线的大脑 — 负责流程控制、状态管理、发布协调、回退决策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51760" cy="2057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6B46"/>
                </a:solidFill>
                <a:latin typeface="Menlo"/>
              </a:defRPr>
            </a:pPr>
            <a:r>
              <a:t>run_daily.py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总入口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914400" cy="27432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3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按步骤调度 Agent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--date / --from-step / --to-step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--only-step / --dry-run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737360"/>
            <a:ext cx="2651760" cy="2057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86C8"/>
                </a:solidFill>
                <a:latin typeface="Menlo"/>
              </a:defRPr>
            </a:pPr>
            <a:r>
              <a:t>lifecycle.py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生命周期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423160"/>
            <a:ext cx="914400" cy="2743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60603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AgentSpec 能力描述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CLI 命令构造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LLM trace 环境注入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651760" cy="2057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enlo"/>
              </a:defRPr>
            </a:pPr>
            <a:r>
              <a:t>state.py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状态管理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23160"/>
            <a:ext cx="91440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0603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读写 run_status.json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orchestrator_runs 拆分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原子写入防半写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737360"/>
            <a:ext cx="2651760" cy="2057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Menlo"/>
              </a:defRPr>
            </a:pPr>
            <a:r>
              <a:t>manifest.py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索引管理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59" y="2423160"/>
            <a:ext cx="914400" cy="274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260603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manifest 读写更新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日期/路径强校验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幂等去重 · 倒序排序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69079"/>
            <a:ext cx="2651760" cy="2057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enlo"/>
              </a:defRPr>
            </a:pPr>
            <a:r>
              <a:t>check_status.py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8055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状态检查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754879"/>
            <a:ext cx="914400" cy="274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3775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读取当天状态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各 Agent 成功/失败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诊断信息汇总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069079"/>
            <a:ext cx="2651760" cy="2057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BC9C"/>
                </a:solidFill>
                <a:latin typeface="Menlo"/>
              </a:defRPr>
            </a:pPr>
            <a:r>
              <a:t>llm.py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48055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LLM 调用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4754879"/>
            <a:ext cx="914400" cy="274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493775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OpenAI Chat Completions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失败重试 + 指数退避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SMTP/IMAP 断联重试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069079"/>
            <a:ext cx="2651760" cy="2057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enlo"/>
              </a:defRPr>
            </a:pPr>
            <a:r>
              <a:t>validators.py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055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结果校验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754879"/>
            <a:ext cx="9144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93775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文件存在性 · JSON 合法性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标签协议解析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HTML 结构校验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4069079"/>
            <a:ext cx="2651760" cy="2057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59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nlo"/>
              </a:defRPr>
            </a:pPr>
            <a:r>
              <a:t>config.py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59" y="448055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配置工具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59" y="4754879"/>
            <a:ext cx="9144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59" y="493775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config.json 读取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日期/时区解析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· 路径工具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拆分调度设计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Microsoft YaHei"/>
              </a:defRPr>
            </a:pPr>
            <a:r>
              <a:t>HTML 生成发布与邮件发送拆为两个独立 launchd 任务，时间可控、失败隔离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3200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6B46"/>
                </a:solidFill>
                <a:latin typeface="Microsoft YaHei"/>
              </a:defRPr>
            </a:pPr>
            <a:r>
              <a:t>任务 A：HTML 生成 + 发布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1371600" cy="27432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1188720" cy="365760"/>
          </a:xfrm>
          <a:prstGeom prst="round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47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运行 run_daily_pipeline.sh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调用 run_daily.py --to-step 4 --publish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执行 Agent 1-4 + Git 发布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写入 orchestrator_runs.html_publish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失败时停止，不进入邮件阶段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212080" cy="32004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BC9C"/>
                </a:solidFill>
                <a:latin typeface="Microsoft YaHei"/>
              </a:defRPr>
            </a:pPr>
            <a:r>
              <a:t>任务 B：邮件发送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194560"/>
            <a:ext cx="1371600" cy="274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0" y="1828800"/>
            <a:ext cx="1188720" cy="3657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0" y="1847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运行 run_daily_email.sh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调用 run_daily.py --only-step 5 --send-email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读取 html_publish 状态判断成败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成功 → 发送当天日报邮件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失败 → 发送失败提醒 + 上一份日报链接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0789920" cy="128016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状态隔离 — orchestrator_runs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orchestrator_runs.html_publish  —  记录 Agent 1-4 + Git 发布结果（任务 A 写入）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orchestrator_runs.email_send      —  记录 Agent 5 邮件发送结果（任务 B 写入，并读取 A 的状态）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两个任务写入同一 run_status.json 的不同 key，互不覆盖 → 失败隔离、独立补跑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多层回退机制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Microsoft YaHei"/>
              </a:defRPr>
            </a:pPr>
            <a:r>
              <a:t>上游缺失不编造 · 无变更智能复用 · 失败溯源可诊断 · 邮件告知不静默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9748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无变更日回退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94560"/>
            <a:ext cx="137160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触发：所有仓库无新增变更时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跳过 Agent 2 (概念提炼)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跳过 Agent 3 (知识讲解)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查找上一份有效知识讲解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复制到当日目录 + 复用说明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继续运行 Agent 4 生成延展型日报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69748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288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生成阶段失败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194560"/>
            <a:ext cx="1371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触发：Agent 1-4 任一步失败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2608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停止后续生成步骤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记录失败步骤 / Agent / 退出码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写入诊断信息到 failures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不生成基于空输入的 HTML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--continue-on-failure 可覆盖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269748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邮件失败提醒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194560"/>
            <a:ext cx="1371600" cy="274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触发：日报生成或发布失败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2608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邮件任务读取 html_publish 状态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失败 → 自动追加 --failure-notice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发送失败提醒邮件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写明失败原因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附上上一份可用日报链接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737360"/>
            <a:ext cx="269748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8288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C8"/>
                </a:solidFill>
                <a:latin typeface="Microsoft YaHei"/>
              </a:defRPr>
            </a:pPr>
            <a:r>
              <a:t>Manifest 幂等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2194560"/>
            <a:ext cx="1371600" cy="2743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触发：同日/同月重复运行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92608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按日期/月份 upsert 去重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不会追加重复日报条目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不会追加重复知识日志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保持合法 JSON + 倒序排序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状态管理与可观测性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Microsoft YaHei"/>
              </a:defRPr>
            </a:pPr>
            <a:r>
              <a:t>每一步运行可追踪 · LLM 调用可回溯 · 拆分调度状态隔离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48640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6B46"/>
                </a:solidFill>
                <a:latin typeface="Microsoft YaHei"/>
              </a:defRPr>
            </a:pPr>
            <a:r>
              <a:t>run_status.json 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371600" cy="27432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顶层字段：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date · updated_at · agents · orchestrator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orchestrator_runs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agents.&lt;agent_name&gt;：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status  ·  started_at / finished_at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input_* / output_*  文件路径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llm.status  ·  problems  诊断列表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orchestrator_runs：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html_publish → Agent 1-4 + 发布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email_send   → Agent 5 邮件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各自含 status · failures · fallback_events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· skipped_steps · publish_events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03520" cy="46634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C8"/>
                </a:solidFill>
                <a:latin typeface="Microsoft YaHei"/>
              </a:defRPr>
            </a:pPr>
            <a:r>
              <a:t>LLM 追踪 (llm_trace.jsonl)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240280"/>
            <a:ext cx="1371600" cy="2743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每次 LLM 调用记录一行 JSON：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· timestamp — 调用时间戳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· agent — 发起调用的 Agent 名称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· attempt — 第几次重试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· model — 使用的模型名称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· endpoint — API 接口地址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· duration_ms — 调用耗时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· success — 成功 / 失败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· error_type — 失败时的错误类型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9999AA"/>
                </a:solidFill>
                <a:latin typeface="Microsoft YaHei"/>
              </a:defRPr>
            </a:pPr>
            <a:r>
              <a:t>用途：定位 LLM 故障、评估模型性能、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9999AA"/>
                </a:solidFill>
                <a:latin typeface="Microsoft YaHei"/>
              </a:defRPr>
            </a:pPr>
            <a:r>
              <a:t>优化 prompt 和重试策略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212080"/>
            <a:ext cx="4846320" cy="914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303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状态检查命令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enlo"/>
              </a:defRPr>
            </a:pPr>
            <a:r>
              <a:t>python3 orchestrator/check_status.py --date 2026-05-23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安全发布策略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Microsoft YaHei"/>
              </a:defRPr>
            </a:pPr>
            <a:r>
              <a:t>无人值守场景下的 Git 发布 — 检查先行、选择性提交、防覆盖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417320" cy="13716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确认 Git</a:t>
            </a:r>
            <a:br/>
            <a:r>
              <a:t>工作区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828800"/>
            <a:ext cx="1417320" cy="13716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14600" y="1920240"/>
            <a:ext cx="502920" cy="502920"/>
          </a:xfrm>
          <a:prstGeom prst="ellipse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6032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检查分支</a:t>
            </a:r>
            <a:br/>
            <a:r>
              <a:t>==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828800"/>
            <a:ext cx="1417320" cy="13716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920240"/>
            <a:ext cx="502920" cy="50292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79" y="256032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git fetch</a:t>
            </a:r>
            <a:br/>
            <a:r>
              <a:t>拉取远端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1828800"/>
            <a:ext cx="1417320" cy="13716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06440" y="19202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56032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本地落后？</a:t>
            </a:r>
            <a:br/>
            <a:r>
              <a:t>→ 停止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828800"/>
            <a:ext cx="1417320" cy="13716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9202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56032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选择性暂存</a:t>
            </a:r>
            <a:br/>
            <a:r>
              <a:t>publish.paths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828800"/>
            <a:ext cx="1417320" cy="13716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98280" y="19202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56032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有变更？</a:t>
            </a:r>
            <a:br/>
            <a:r>
              <a:t>→ commit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32720" y="1828800"/>
            <a:ext cx="1417320" cy="13716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44200" y="1920240"/>
            <a:ext cx="502920" cy="502920"/>
          </a:xfrm>
          <a:prstGeom prst="ellipse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4420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256032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领先远端？</a:t>
            </a:r>
            <a:br/>
            <a:r>
              <a:t>→ push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474720"/>
            <a:ext cx="11247120" cy="86868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选择性暂存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Microsoft YaHei"/>
              </a:defRPr>
            </a:pPr>
            <a:r>
              <a:t>只 git add publish.paths 中配置的生成文件，不会误提交 config.json、邮件预览等敏感/临时文件。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480560"/>
            <a:ext cx="11247120" cy="86868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远端冲突保护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Microsoft YaHei"/>
              </a:defRPr>
            </a:pPr>
            <a:r>
              <a:t>发布前 git fetch 检查远端状态。如果本地落后远端（他人在此期间推送），停止发布避免覆盖。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486400"/>
            <a:ext cx="11247120" cy="86868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86C8"/>
                </a:solidFill>
                <a:latin typeface="Microsoft YaHei"/>
              </a:defRPr>
            </a:pPr>
            <a:r>
              <a:t>无需变更则跳过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Microsoft YaHei"/>
              </a:defRPr>
            </a:pPr>
            <a:r>
              <a:t>如果暂存区无变更（所有生成文件与上次一致），跳过 git commit，避免产生空提交。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6400800"/>
            <a:ext cx="11247120" cy="36576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  <a:latin typeface="Menlo"/>
              </a:defRPr>
            </a:pPr>
            <a:r>
              <a:t>publish.paths: ["prework/...", "daily_report/...", "knowledge_log/...", "index.html"]  — 白名单机制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技术栈与工具链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697480" cy="347472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6B46"/>
                </a:solidFill>
                <a:latin typeface="Microsoft YaHei"/>
              </a:defRPr>
            </a:pPr>
            <a:r>
              <a:t>AI 与内容生成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1097280" cy="27432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LLM: DeepSeek / OpenAI 兼容接口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5 个独立 Agent + Prompt Engineering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Orchestrator 调度 + LLM 重试退避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llm_trace.jsonl 全链路追踪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37360"/>
            <a:ext cx="2697480" cy="347472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7451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C8"/>
                </a:solidFill>
                <a:latin typeface="Microsoft YaHei"/>
              </a:defRPr>
            </a:pPr>
            <a:r>
              <a:t>前端展示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240280"/>
            <a:ext cx="1097280" cy="2743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4231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纯静态 HTML + CSS + JavaScript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单页应用模式 (index.html)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CSS 公共设计系统 (style/main.css)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响应式布局 (桌面 + 移动端)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简读/精读渐进披露交互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2697480" cy="347472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数据与状态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240280"/>
            <a:ext cx="109728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JSON manifest 驱动导航索引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Markdown 中间产物可读可查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run_status.json 运行状态追踪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文件系统即数据库，零依赖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737360"/>
            <a:ext cx="2697480" cy="347472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87451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44AD"/>
                </a:solidFill>
                <a:latin typeface="Microsoft YaHei"/>
              </a:defRPr>
            </a:pPr>
            <a:r>
              <a:t>调度与部署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2240280"/>
            <a:ext cx="1097280" cy="274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4231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macOS launchd 本地定时调度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拆分任务：pipeline + email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Git + GitHub Pages 免费托管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SSH 自动化推送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零服务器成本 · 永久可访问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86400"/>
            <a:ext cx="1691640" cy="10058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核心语言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5486400"/>
            <a:ext cx="1691640" cy="10058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55778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python-pptx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989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PPT 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5486400"/>
            <a:ext cx="1691640" cy="10058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55778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httpx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989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HTTP 客户端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486400"/>
            <a:ext cx="1691640" cy="10058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55778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launchd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989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macOS 调度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5486400"/>
            <a:ext cx="1691640" cy="10058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55778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GitHub Pages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989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静态托管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486400"/>
            <a:ext cx="1691640" cy="10058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55778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SMTP/IMAP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989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邮件服务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011680" cy="45720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486400" cy="45720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6B46"/>
                </a:solidFill>
                <a:latin typeface="Microsoft YaHei"/>
              </a:defRPr>
            </a:pPr>
            <a:r>
              <a:t>v2.0 核心成果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1371600" cy="27432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7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从 Codex 依赖迁移为完全本地独立 Agent 系统</a:t>
            </a:r>
          </a:p>
          <a:p>
            <a:pPr algn="l">
              <a:spcBef>
                <a:spcPts val="7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5 个 Agent + Orchestrator 调度引擎</a:t>
            </a:r>
          </a:p>
          <a:p>
            <a:pPr algn="l">
              <a:spcBef>
                <a:spcPts val="7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拆分定时任务：生成发布 / 邮件发送 独立可控</a:t>
            </a:r>
          </a:p>
          <a:p>
            <a:pPr algn="l">
              <a:spcBef>
                <a:spcPts val="7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多层回退：无变更复用 · 失败停止 · 邮件通知</a:t>
            </a:r>
          </a:p>
          <a:p>
            <a:pPr algn="l">
              <a:spcBef>
                <a:spcPts val="7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全链路可观测：run_status + LLM trace</a:t>
            </a:r>
          </a:p>
          <a:p>
            <a:pPr algn="l">
              <a:spcBef>
                <a:spcPts val="7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安全发布：选择性暂存 · 远端检查 · 防覆盖</a:t>
            </a:r>
          </a:p>
          <a:p>
            <a:pPr algn="l">
              <a:spcBef>
                <a:spcPts val="7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CLI 完全可控：--dry-run / --from-step / --only-step</a:t>
            </a:r>
          </a:p>
          <a:p>
            <a:pPr algn="l">
              <a:spcBef>
                <a:spcPts val="7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单步可补跑 · 同日幂等 · manifest 去重</a:t>
            </a:r>
          </a:p>
          <a:p>
            <a:pPr algn="l">
              <a:spcBef>
                <a:spcPts val="7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零运维成本 · 纯静态 · GitHub Pages 托管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03520" cy="457200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44AD"/>
                </a:solidFill>
                <a:latin typeface="Microsoft YaHei"/>
              </a:defRPr>
            </a:pPr>
            <a:r>
              <a:t>未来方向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240280"/>
            <a:ext cx="1371600" cy="274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▸ 跨日报全文检索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     Elasticlunr 或 Fuse.js 客户端搜索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▸ 知识图谱可视化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     D3.js 概念关联力导向图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▸ RSS / Atom 订阅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     自动生成订阅源，推送每日日报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▸ 知识回测系统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     基于历史概念自动生成练习题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▸ 多语言讲解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     同一概念的中英双语版本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▸ 协作知识库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     多人标注、讨论、补充概念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▸ Webhook 通知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     支持 Slack / 钉钉 / 飞书推送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▸ Docker 化部署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9999AA"/>
                </a:solidFill>
                <a:latin typeface="Microsoft YaHei"/>
              </a:defRPr>
            </a:pPr>
            <a:r>
              <a:t>     跨平台一键部署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446520"/>
            <a:ext cx="11247120" cy="320040"/>
          </a:xfrm>
          <a:prstGeom prst="roundRect">
            <a:avLst/>
          </a:prstGeom>
          <a:solidFill>
            <a:srgbClr val="1E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96B46"/>
                </a:solidFill>
                <a:latin typeface="Microsoft YaHei"/>
              </a:defRPr>
            </a:pPr>
            <a:r>
              <a:t>"把今天学到的东西，留成明天能继续走的路"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